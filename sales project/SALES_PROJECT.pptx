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6"/>
  </p:notesMasterIdLst>
  <p:sldIdLst>
    <p:sldId id="256" r:id="rId2"/>
    <p:sldId id="260"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883" autoAdjust="0"/>
  </p:normalViewPr>
  <p:slideViewPr>
    <p:cSldViewPr snapToGrid="0">
      <p:cViewPr varScale="1">
        <p:scale>
          <a:sx n="63" d="100"/>
          <a:sy n="63" d="100"/>
        </p:scale>
        <p:origin x="804" y="6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1" d="100"/>
          <a:sy n="51" d="100"/>
        </p:scale>
        <p:origin x="2692"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5A2C75-998C-4987-B0CE-6E901571609D}" type="datetimeFigureOut">
              <a:rPr lang="en-US" smtClean="0"/>
              <a:t>3/13/2026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2FC944-064B-41E4-B3AF-009BA685E7CD}" type="slidenum">
              <a:rPr lang="en-US" smtClean="0"/>
              <a:t>‹#›</a:t>
            </a:fld>
            <a:endParaRPr lang="en-US"/>
          </a:p>
        </p:txBody>
      </p:sp>
    </p:spTree>
    <p:extLst>
      <p:ext uri="{BB962C8B-B14F-4D97-AF65-F5344CB8AC3E}">
        <p14:creationId xmlns:p14="http://schemas.microsoft.com/office/powerpoint/2010/main" val="1963893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2FC944-064B-41E4-B3AF-009BA685E7CD}" type="slidenum">
              <a:rPr lang="en-US" smtClean="0"/>
              <a:t>1</a:t>
            </a:fld>
            <a:endParaRPr lang="en-US"/>
          </a:p>
        </p:txBody>
      </p:sp>
    </p:spTree>
    <p:extLst>
      <p:ext uri="{BB962C8B-B14F-4D97-AF65-F5344CB8AC3E}">
        <p14:creationId xmlns:p14="http://schemas.microsoft.com/office/powerpoint/2010/main" val="1529382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4073881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105253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1183570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1A042E0-EB1B-48B6-8DB0-C9CA043E8D95}"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3111262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1A042E0-EB1B-48B6-8DB0-C9CA043E8D95}" type="datetimeFigureOut">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2531878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1A042E0-EB1B-48B6-8DB0-C9CA043E8D95}" type="datetimeFigureOut">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36039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A042E0-EB1B-48B6-8DB0-C9CA043E8D95}" type="datetimeFigureOut">
              <a:rPr lang="en-US" smtClean="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2958544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A042E0-EB1B-48B6-8DB0-C9CA043E8D95}"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1112097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1A042E0-EB1B-48B6-8DB0-C9CA043E8D95}"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915516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1765108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4295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2079728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121787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24688551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3091397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A042E0-EB1B-48B6-8DB0-C9CA043E8D95}"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A4CBC-E1AE-405F-8FDA-B65198D63D3F}" type="slidenum">
              <a:rPr lang="en-US" smtClean="0"/>
              <a:t>‹#›</a:t>
            </a:fld>
            <a:endParaRPr lang="en-US"/>
          </a:p>
        </p:txBody>
      </p:sp>
    </p:spTree>
    <p:extLst>
      <p:ext uri="{BB962C8B-B14F-4D97-AF65-F5344CB8AC3E}">
        <p14:creationId xmlns:p14="http://schemas.microsoft.com/office/powerpoint/2010/main" val="71594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1A042E0-EB1B-48B6-8DB0-C9CA043E8D95}" type="datetimeFigureOut">
              <a:rPr lang="en-US" smtClean="0"/>
              <a:t>3/13/2026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12A4CBC-E1AE-405F-8FDA-B65198D63D3F}" type="slidenum">
              <a:rPr lang="en-US" smtClean="0"/>
              <a:t>‹#›</a:t>
            </a:fld>
            <a:endParaRPr lang="en-US"/>
          </a:p>
        </p:txBody>
      </p:sp>
    </p:spTree>
    <p:extLst>
      <p:ext uri="{BB962C8B-B14F-4D97-AF65-F5344CB8AC3E}">
        <p14:creationId xmlns:p14="http://schemas.microsoft.com/office/powerpoint/2010/main" val="404506953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5" name="Picture 4">
            <a:extLst>
              <a:ext uri="{FF2B5EF4-FFF2-40B4-BE49-F238E27FC236}">
                <a16:creationId xmlns:a16="http://schemas.microsoft.com/office/drawing/2014/main" id="{FB0C64B1-31CB-2CBA-5181-0BA3A83CAC59}"/>
              </a:ext>
            </a:extLst>
          </p:cNvPr>
          <p:cNvPicPr>
            <a:picLocks noChangeAspect="1" noChangeArrowheads="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163845"/>
            <a:ext cx="581025" cy="5810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
            <a:extLst>
              <a:ext uri="{FF2B5EF4-FFF2-40B4-BE49-F238E27FC236}">
                <a16:creationId xmlns:a16="http://schemas.microsoft.com/office/drawing/2014/main" id="{213131C0-50E9-DE88-F8D0-1C31BEF0B547}"/>
              </a:ext>
            </a:extLst>
          </p:cNvPr>
          <p:cNvSpPr txBox="1"/>
          <p:nvPr/>
        </p:nvSpPr>
        <p:spPr>
          <a:xfrm>
            <a:off x="468084" y="913736"/>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STEPS IN PROJECT</a:t>
            </a:r>
          </a:p>
        </p:txBody>
      </p:sp>
      <p:sp>
        <p:nvSpPr>
          <p:cNvPr id="14" name="Rectangle 13"/>
          <p:cNvSpPr/>
          <p:nvPr/>
        </p:nvSpPr>
        <p:spPr>
          <a:xfrm>
            <a:off x="468084" y="1720840"/>
            <a:ext cx="8675916" cy="3416320"/>
          </a:xfrm>
          <a:prstGeom prst="rect">
            <a:avLst/>
          </a:prstGeom>
        </p:spPr>
        <p:txBody>
          <a:bodyPr wrap="square">
            <a:spAutoFit/>
          </a:bodyPr>
          <a:lstStyle/>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Requirement Gathering/ Business Requirements</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Data Walkthrough</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Data Connection</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Data Cleaning / Quality Check</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Data Modeling</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Data Processing</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DAX Calculations</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Dashboard Background</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Dashboard Lay outing</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Charts Development and Formatting</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Dashboard / Report Development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tabLst>
                <a:tab pos="2971800" algn="ctr"/>
                <a:tab pos="5943600" algn="r"/>
                <a:tab pos="457200" algn="l"/>
                <a:tab pos="2971800" algn="ctr"/>
                <a:tab pos="5943600" algn="r"/>
              </a:tabLst>
            </a:pPr>
            <a:r>
              <a:rPr lang="en-US" b="1" dirty="0">
                <a:latin typeface="Calibri" panose="020F0502020204030204" pitchFamily="34" charset="0"/>
                <a:ea typeface="Calibri" panose="020F0502020204030204" pitchFamily="34" charset="0"/>
                <a:cs typeface="Times New Roman" panose="02020603050405020304" pitchFamily="18" charset="0"/>
              </a:rPr>
              <a:t>Insights Generation</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50830" y="5966520"/>
            <a:ext cx="2457451" cy="620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7009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E956524-53C2-84FA-6658-6C7C0B241BD4}"/>
              </a:ext>
            </a:extLst>
          </p:cNvPr>
          <p:cNvSpPr>
            <a:spLocks noChangeArrowheads="1"/>
          </p:cNvSpPr>
          <p:nvPr/>
        </p:nvSpPr>
        <p:spPr bwMode="auto">
          <a:xfrm>
            <a:off x="266269" y="2570838"/>
            <a:ext cx="1157038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lang="en-US" altLang="en-US" dirty="0"/>
              <a:t>Central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dirty="0"/>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dirty="0"/>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dirty="0"/>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dirty="0"/>
              <a:t>Create a bar sparkline for monthly data, including an average line for better trend analysis.</a:t>
            </a:r>
          </a:p>
          <a:p>
            <a:pPr marL="0" marR="0" lvl="0" indent="0" algn="l" defTabSz="914400" rtl="0" eaLnBrk="0" fontAlgn="base" latinLnBrk="0" hangingPunct="0">
              <a:lnSpc>
                <a:spcPct val="150000"/>
              </a:lnSpc>
              <a:spcBef>
                <a:spcPct val="0"/>
              </a:spcBef>
              <a:spcAft>
                <a:spcPct val="0"/>
              </a:spcAft>
              <a:buClrTx/>
              <a:buSzTx/>
              <a:tabLst/>
            </a:pPr>
            <a:r>
              <a:rPr lang="en-US" altLang="en-US" dirty="0"/>
              <a:t>East Region:</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dirty="0"/>
              <a:t>Display Sales, Profit, and Quantity as per the selected year filter.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dirty="0"/>
              <a:t>Allow dynamic selection between Sales, Profit, and Quantity.</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dirty="0"/>
              <a:t>Show Sales for the previous year based on the selected year.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dirty="0"/>
              <a:t>Create a bar sparkline for monthly data, including an average line for better trend analysis.</a:t>
            </a:r>
          </a:p>
        </p:txBody>
      </p:sp>
      <p:sp>
        <p:nvSpPr>
          <p:cNvPr id="6" name="TextBox 5">
            <a:extLst>
              <a:ext uri="{FF2B5EF4-FFF2-40B4-BE49-F238E27FC236}">
                <a16:creationId xmlns:a16="http://schemas.microsoft.com/office/drawing/2014/main" id="{08C4D190-B5E9-8862-30B7-F38C75402C07}"/>
              </a:ext>
            </a:extLst>
          </p:cNvPr>
          <p:cNvSpPr txBox="1"/>
          <p:nvPr/>
        </p:nvSpPr>
        <p:spPr>
          <a:xfrm>
            <a:off x="266269" y="1277003"/>
            <a:ext cx="11353800" cy="1077218"/>
          </a:xfrm>
          <a:prstGeom prst="rect">
            <a:avLst/>
          </a:prstGeom>
          <a:noFill/>
        </p:spPr>
        <p:txBody>
          <a:bodyPr wrap="square" rtlCol="0">
            <a:spAutoFit/>
          </a:bodyPr>
          <a:lstStyle/>
          <a:p>
            <a:r>
              <a:rPr lang="en-US" sz="1600" b="1" dirty="0">
                <a:solidFill>
                  <a:schemeClr val="tx2"/>
                </a:solidFill>
              </a:rPr>
              <a:t>Design a dynamic Power BI dashboard that tracks key metrics—Sales, Profit, and Quantity—across four regions: Central, East, South, and West. The dashboard should allow users to filter by year and dynamically switch between the three metrics (Sales, Profit, and Quantity). Additionally, it should include a comparison with the previous year's (PY) sales for the selected </a:t>
            </a:r>
            <a:r>
              <a:rPr lang="en-US" sz="1600" b="1" dirty="0" smtClean="0">
                <a:solidFill>
                  <a:schemeClr val="tx2"/>
                </a:solidFill>
              </a:rPr>
              <a:t>year.</a:t>
            </a:r>
            <a:endParaRPr lang="en-IN" sz="1600" b="1" dirty="0">
              <a:solidFill>
                <a:schemeClr val="tx2"/>
              </a:solidFill>
            </a:endParaRPr>
          </a:p>
        </p:txBody>
      </p:sp>
      <p:sp>
        <p:nvSpPr>
          <p:cNvPr id="7" name="TextBox 6">
            <a:extLst>
              <a:ext uri="{FF2B5EF4-FFF2-40B4-BE49-F238E27FC236}">
                <a16:creationId xmlns:a16="http://schemas.microsoft.com/office/drawing/2014/main" id="{EC607701-22BB-8AE8-C5E6-87354FC47E1A}"/>
              </a:ext>
            </a:extLst>
          </p:cNvPr>
          <p:cNvSpPr txBox="1"/>
          <p:nvPr/>
        </p:nvSpPr>
        <p:spPr>
          <a:xfrm>
            <a:off x="183135" y="548640"/>
            <a:ext cx="5724527" cy="6502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pic>
        <p:nvPicPr>
          <p:cNvPr id="8" name="Picture 7">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92725"/>
            <a:ext cx="581025" cy="5810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EDBFF20-866A-3F91-DC0C-E6135DAAEF98}"/>
              </a:ext>
            </a:extLst>
          </p:cNvPr>
          <p:cNvSpPr txBox="1"/>
          <p:nvPr/>
        </p:nvSpPr>
        <p:spPr>
          <a:xfrm>
            <a:off x="3163373" y="71121"/>
            <a:ext cx="6692571" cy="63818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10"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32110" y="5770880"/>
            <a:ext cx="2457451" cy="7215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C607701-22BB-8AE8-C5E6-87354FC47E1A}"/>
              </a:ext>
            </a:extLst>
          </p:cNvPr>
          <p:cNvSpPr txBox="1"/>
          <p:nvPr/>
        </p:nvSpPr>
        <p:spPr>
          <a:xfrm>
            <a:off x="301109" y="2354220"/>
            <a:ext cx="5724527" cy="41945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smtClean="0">
                <a:solidFill>
                  <a:schemeClr val="accent1">
                    <a:lumMod val="75000"/>
                  </a:schemeClr>
                </a:solidFill>
                <a:latin typeface="Arial Rounded MT Bold" panose="020F0704030504030204" pitchFamily="34" charset="0"/>
                <a:ea typeface="Segoe UI Black" panose="020B0A02040204020203" pitchFamily="34" charset="0"/>
              </a:rPr>
              <a:t>KPI’S Requirements</a:t>
            </a:r>
            <a:endParaRPr lang="en-IN" sz="3200" b="1" dirty="0">
              <a:solidFill>
                <a:schemeClr val="accent1">
                  <a:lumMod val="75000"/>
                </a:schemeClr>
              </a:solidFill>
              <a:latin typeface="Arial Rounded MT Bold" panose="020F0704030504030204" pitchFamily="34" charset="0"/>
              <a:ea typeface="Segoe UI Black" panose="020B0A02040204020203" pitchFamily="34" charset="0"/>
            </a:endParaRPr>
          </a:p>
        </p:txBody>
      </p:sp>
    </p:spTree>
    <p:extLst>
      <p:ext uri="{BB962C8B-B14F-4D97-AF65-F5344CB8AC3E}">
        <p14:creationId xmlns:p14="http://schemas.microsoft.com/office/powerpoint/2010/main" val="2926524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1EDBFF20-866A-3F91-DC0C-E6135DAAEF98}"/>
              </a:ext>
            </a:extLst>
          </p:cNvPr>
          <p:cNvSpPr txBox="1"/>
          <p:nvPr/>
        </p:nvSpPr>
        <p:spPr>
          <a:xfrm>
            <a:off x="3108961" y="125899"/>
            <a:ext cx="6746984"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3" name="TextBox 2">
            <a:extLst>
              <a:ext uri="{FF2B5EF4-FFF2-40B4-BE49-F238E27FC236}">
                <a16:creationId xmlns:a16="http://schemas.microsoft.com/office/drawing/2014/main" id="{EC607701-22BB-8AE8-C5E6-87354FC47E1A}"/>
              </a:ext>
            </a:extLst>
          </p:cNvPr>
          <p:cNvSpPr txBox="1"/>
          <p:nvPr/>
        </p:nvSpPr>
        <p:spPr>
          <a:xfrm>
            <a:off x="183135" y="629921"/>
            <a:ext cx="5724527" cy="56896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5"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1980688"/>
            <a:ext cx="1157038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600" b="1" dirty="0">
                <a:latin typeface="Arial" panose="020B0604020202020204" pitchFamily="34" charset="0"/>
              </a:rPr>
              <a:t>South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r>
              <a:rPr lang="en-US" altLang="en-US" sz="1600" b="1" dirty="0">
                <a:latin typeface="Arial" panose="020B0604020202020204" pitchFamily="34" charset="0"/>
              </a:rPr>
              <a:t>West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pic>
        <p:nvPicPr>
          <p:cNvPr id="6" name="Picture 5">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16384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50830" y="5966520"/>
            <a:ext cx="2457451" cy="62085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C607701-22BB-8AE8-C5E6-87354FC47E1A}"/>
              </a:ext>
            </a:extLst>
          </p:cNvPr>
          <p:cNvSpPr txBox="1"/>
          <p:nvPr/>
        </p:nvSpPr>
        <p:spPr>
          <a:xfrm>
            <a:off x="301109" y="1280160"/>
            <a:ext cx="5724527" cy="59943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smtClean="0">
                <a:solidFill>
                  <a:schemeClr val="accent1">
                    <a:lumMod val="75000"/>
                  </a:schemeClr>
                </a:solidFill>
                <a:latin typeface="Arial Rounded MT Bold" panose="020F0704030504030204" pitchFamily="34" charset="0"/>
                <a:ea typeface="Segoe UI Black" panose="020B0A02040204020203" pitchFamily="34" charset="0"/>
              </a:rPr>
              <a:t>KPI’S Requirements</a:t>
            </a:r>
            <a:endParaRPr lang="en-IN" sz="3200" b="1" dirty="0">
              <a:solidFill>
                <a:schemeClr val="accent1">
                  <a:lumMod val="75000"/>
                </a:schemeClr>
              </a:solidFill>
              <a:latin typeface="Arial Rounded MT Bold" panose="020F0704030504030204" pitchFamily="34" charset="0"/>
              <a:ea typeface="Segoe UI Black" panose="020B0A02040204020203" pitchFamily="34" charset="0"/>
            </a:endParaRPr>
          </a:p>
        </p:txBody>
      </p:sp>
    </p:spTree>
    <p:extLst>
      <p:ext uri="{BB962C8B-B14F-4D97-AF65-F5344CB8AC3E}">
        <p14:creationId xmlns:p14="http://schemas.microsoft.com/office/powerpoint/2010/main" val="40463730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54F65D-4968-AD7D-E0C2-AEA6FAE278B4}"/>
              </a:ext>
            </a:extLst>
          </p:cNvPr>
          <p:cNvSpPr txBox="1"/>
          <p:nvPr/>
        </p:nvSpPr>
        <p:spPr>
          <a:xfrm>
            <a:off x="239104" y="2118471"/>
            <a:ext cx="111712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lnSpc>
                <a:spcPct val="150000"/>
              </a:lnSpc>
              <a:spcBef>
                <a:spcPct val="0"/>
              </a:spcBef>
              <a:spcAft>
                <a:spcPct val="0"/>
              </a:spcAft>
              <a:defRPr sz="1600" b="1">
                <a:latin typeface="Arial" panose="020B0604020202020204" pitchFamily="34" charset="0"/>
              </a:defRPr>
            </a:lvl1pPr>
            <a:lvl2pPr marL="742950" lvl="1" indent="-285750" eaLnBrk="0" fontAlgn="base" hangingPunct="0">
              <a:lnSpc>
                <a:spcPct val="150000"/>
              </a:lnSpc>
              <a:spcBef>
                <a:spcPct val="0"/>
              </a:spcBef>
              <a:spcAft>
                <a:spcPct val="0"/>
              </a:spcAft>
              <a:buFont typeface="Wingdings" panose="05000000000000000000" pitchFamily="2" charset="2"/>
              <a:buChar char="Ø"/>
              <a:defRPr sz="1600">
                <a:latin typeface="Arial" panose="020B0604020202020204" pitchFamily="34" charset="0"/>
              </a:defRPr>
            </a:lvl2pPr>
          </a:lstStyle>
          <a:p>
            <a:r>
              <a:rPr lang="en-US" altLang="en-US" dirty="0"/>
              <a:t>Sales by State:</a:t>
            </a:r>
          </a:p>
          <a:p>
            <a:pPr marL="1028700" lvl="1"/>
            <a:r>
              <a:rPr lang="en-US" altLang="en-US" sz="1400" dirty="0"/>
              <a:t>Bubble Map: Display a bubble map to visualize sales distribution across different states. The size of each bubble should correspond to the sales volume, allowing users to quickly identify states with high or low sales.</a:t>
            </a:r>
          </a:p>
          <a:p>
            <a:pPr marL="1028700" lvl="1"/>
            <a:r>
              <a:rPr lang="en-US" altLang="en-US" sz="1400" dirty="0"/>
              <a:t>Bar Chart: Place a bar chart alongside the bubble map to provide a detailed breakdown of sales by state. This chart should allow for easy comparison between states, with bars sorted either in ascending or descending order of sales.</a:t>
            </a:r>
          </a:p>
          <a:p>
            <a:pPr lvl="1" indent="0">
              <a:lnSpc>
                <a:spcPct val="100000"/>
              </a:lnSpc>
              <a:buNone/>
            </a:pPr>
            <a:endParaRPr lang="en-US" altLang="en-US" dirty="0"/>
          </a:p>
          <a:p>
            <a:pPr>
              <a:lnSpc>
                <a:spcPct val="100000"/>
              </a:lnSpc>
            </a:pPr>
            <a:r>
              <a:rPr lang="en-US" altLang="en-US" dirty="0"/>
              <a:t>Create a table/grid to display key metrics for both current and previous years. The table should include the following columns:</a:t>
            </a:r>
          </a:p>
          <a:p>
            <a:pPr lvl="1">
              <a:lnSpc>
                <a:spcPct val="100000"/>
              </a:lnSpc>
            </a:pPr>
            <a:r>
              <a:rPr lang="en-US" altLang="en-US" sz="1200" dirty="0"/>
              <a:t>CY Sales: Current Year Sales</a:t>
            </a:r>
          </a:p>
          <a:p>
            <a:pPr lvl="1">
              <a:lnSpc>
                <a:spcPct val="100000"/>
              </a:lnSpc>
            </a:pPr>
            <a:r>
              <a:rPr lang="en-US" altLang="en-US" sz="1200" dirty="0"/>
              <a:t>PY Sales: Previous Year Sales</a:t>
            </a:r>
          </a:p>
          <a:p>
            <a:pPr lvl="1">
              <a:lnSpc>
                <a:spcPct val="100000"/>
              </a:lnSpc>
            </a:pPr>
            <a:r>
              <a:rPr lang="en-US" altLang="en-US" sz="1200" dirty="0"/>
              <a:t>YoY Sales: Year-over-Year Sales growth or decline</a:t>
            </a:r>
          </a:p>
          <a:p>
            <a:pPr lvl="1">
              <a:lnSpc>
                <a:spcPct val="100000"/>
              </a:lnSpc>
            </a:pPr>
            <a:r>
              <a:rPr lang="en-US" altLang="en-US" sz="1200" dirty="0"/>
              <a:t>CY Profit: Current Year Profit</a:t>
            </a:r>
          </a:p>
          <a:p>
            <a:pPr lvl="1">
              <a:lnSpc>
                <a:spcPct val="100000"/>
              </a:lnSpc>
            </a:pPr>
            <a:r>
              <a:rPr lang="en-US" altLang="en-US" sz="1200" dirty="0"/>
              <a:t>PY Profit: Previous Year Profit</a:t>
            </a:r>
          </a:p>
          <a:p>
            <a:pPr lvl="1">
              <a:lnSpc>
                <a:spcPct val="100000"/>
              </a:lnSpc>
            </a:pPr>
            <a:r>
              <a:rPr lang="en-US" altLang="en-US" sz="1200" dirty="0"/>
              <a:t>YoY Profit: Year-over-Year Profit growth or decline</a:t>
            </a:r>
          </a:p>
          <a:p>
            <a:pPr lvl="1">
              <a:lnSpc>
                <a:spcPct val="100000"/>
              </a:lnSpc>
            </a:pPr>
            <a:r>
              <a:rPr lang="en-US" altLang="en-US" sz="1200" dirty="0"/>
              <a:t>CY Qty: Current Year Quantity</a:t>
            </a:r>
          </a:p>
          <a:p>
            <a:pPr lvl="1">
              <a:lnSpc>
                <a:spcPct val="100000"/>
              </a:lnSpc>
            </a:pPr>
            <a:r>
              <a:rPr lang="en-US" altLang="en-US" sz="1200" dirty="0"/>
              <a:t>PY Qty: Previous Year Quantity</a:t>
            </a:r>
          </a:p>
          <a:p>
            <a:pPr lvl="1">
              <a:lnSpc>
                <a:spcPct val="100000"/>
              </a:lnSpc>
            </a:pPr>
            <a:r>
              <a:rPr lang="en-US" altLang="en-US" sz="1200" dirty="0"/>
              <a:t>YoY Qty: Year-over-Year Quantity growth or decline</a:t>
            </a:r>
          </a:p>
        </p:txBody>
      </p:sp>
      <p:sp>
        <p:nvSpPr>
          <p:cNvPr id="3" name="TextBox 2">
            <a:extLst>
              <a:ext uri="{FF2B5EF4-FFF2-40B4-BE49-F238E27FC236}">
                <a16:creationId xmlns:a16="http://schemas.microsoft.com/office/drawing/2014/main" id="{1EDBFF20-866A-3F91-DC0C-E6135DAAEF98}"/>
              </a:ext>
            </a:extLst>
          </p:cNvPr>
          <p:cNvSpPr txBox="1"/>
          <p:nvPr/>
        </p:nvSpPr>
        <p:spPr>
          <a:xfrm>
            <a:off x="3163373" y="71121"/>
            <a:ext cx="6692571" cy="63818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4" name="TextBox 3">
            <a:extLst>
              <a:ext uri="{FF2B5EF4-FFF2-40B4-BE49-F238E27FC236}">
                <a16:creationId xmlns:a16="http://schemas.microsoft.com/office/drawing/2014/main" id="{EC607701-22BB-8AE8-C5E6-87354FC47E1A}"/>
              </a:ext>
            </a:extLst>
          </p:cNvPr>
          <p:cNvSpPr txBox="1"/>
          <p:nvPr/>
        </p:nvSpPr>
        <p:spPr>
          <a:xfrm>
            <a:off x="183135" y="497841"/>
            <a:ext cx="5724527" cy="62992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pic>
        <p:nvPicPr>
          <p:cNvPr id="6" name="Picture 5">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9272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50830" y="5963026"/>
            <a:ext cx="2457451" cy="62085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C607701-22BB-8AE8-C5E6-87354FC47E1A}"/>
              </a:ext>
            </a:extLst>
          </p:cNvPr>
          <p:cNvSpPr txBox="1"/>
          <p:nvPr/>
        </p:nvSpPr>
        <p:spPr>
          <a:xfrm>
            <a:off x="301109" y="1280160"/>
            <a:ext cx="5724527" cy="59943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smtClean="0">
                <a:solidFill>
                  <a:schemeClr val="accent1">
                    <a:lumMod val="75000"/>
                  </a:schemeClr>
                </a:solidFill>
                <a:latin typeface="Arial Rounded MT Bold" panose="020F0704030504030204" pitchFamily="34" charset="0"/>
                <a:ea typeface="Segoe UI Black" panose="020B0A02040204020203" pitchFamily="34" charset="0"/>
              </a:rPr>
              <a:t>KPI’S Requirements</a:t>
            </a:r>
            <a:endParaRPr lang="en-IN" sz="3200" b="1" dirty="0">
              <a:solidFill>
                <a:schemeClr val="accent1">
                  <a:lumMod val="75000"/>
                </a:schemeClr>
              </a:solidFill>
              <a:latin typeface="Arial Rounded MT Bold" panose="020F0704030504030204" pitchFamily="34" charset="0"/>
              <a:ea typeface="Segoe UI Black" panose="020B0A02040204020203" pitchFamily="34" charset="0"/>
            </a:endParaRPr>
          </a:p>
        </p:txBody>
      </p:sp>
    </p:spTree>
    <p:extLst>
      <p:ext uri="{BB962C8B-B14F-4D97-AF65-F5344CB8AC3E}">
        <p14:creationId xmlns:p14="http://schemas.microsoft.com/office/powerpoint/2010/main" val="4192190724"/>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35</TotalTime>
  <Words>530</Words>
  <Application>Microsoft Office PowerPoint</Application>
  <PresentationFormat>Widescreen</PresentationFormat>
  <Paragraphs>59</Paragraphs>
  <Slides>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vt:i4>
      </vt:variant>
    </vt:vector>
  </HeadingPairs>
  <TitlesOfParts>
    <vt:vector size="13" baseType="lpstr">
      <vt:lpstr>Arial</vt:lpstr>
      <vt:lpstr>Arial Rounded MT Bold</vt:lpstr>
      <vt:lpstr>Calibri</vt:lpstr>
      <vt:lpstr>Segoe UI Black</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5</cp:revision>
  <dcterms:created xsi:type="dcterms:W3CDTF">2026-03-13T09:22:57Z</dcterms:created>
  <dcterms:modified xsi:type="dcterms:W3CDTF">2026-03-13T09:58:00Z</dcterms:modified>
</cp:coreProperties>
</file>